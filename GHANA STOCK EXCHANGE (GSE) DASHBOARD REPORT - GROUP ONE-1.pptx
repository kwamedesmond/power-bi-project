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4" r:id="rId1"/>
  </p:sldMasterIdLst>
  <p:sldIdLst>
    <p:sldId id="256" r:id="rId2"/>
    <p:sldId id="257" r:id="rId3"/>
    <p:sldId id="258" r:id="rId4"/>
    <p:sldId id="271"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5" d="100"/>
          <a:sy n="65" d="100"/>
        </p:scale>
        <p:origin x="93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ma Golo" userId="1e56952753dbeda1" providerId="LiveId" clId="{C2850D2E-02C6-4134-80AB-CC17BA0C0F07}"/>
    <pc:docChg chg="modSld">
      <pc:chgData name="Alma Golo" userId="1e56952753dbeda1" providerId="LiveId" clId="{C2850D2E-02C6-4134-80AB-CC17BA0C0F07}" dt="2026-03-08T13:55:00.965" v="56" actId="1076"/>
      <pc:docMkLst>
        <pc:docMk/>
      </pc:docMkLst>
      <pc:sldChg chg="addSp modSp mod">
        <pc:chgData name="Alma Golo" userId="1e56952753dbeda1" providerId="LiveId" clId="{C2850D2E-02C6-4134-80AB-CC17BA0C0F07}" dt="2026-03-08T13:55:00.965" v="56" actId="1076"/>
        <pc:sldMkLst>
          <pc:docMk/>
          <pc:sldMk cId="1343730112" sldId="256"/>
        </pc:sldMkLst>
        <pc:spChg chg="add mod">
          <ac:chgData name="Alma Golo" userId="1e56952753dbeda1" providerId="LiveId" clId="{C2850D2E-02C6-4134-80AB-CC17BA0C0F07}" dt="2026-03-08T13:55:00.965" v="56" actId="1076"/>
          <ac:spMkLst>
            <pc:docMk/>
            <pc:sldMk cId="1343730112" sldId="256"/>
            <ac:spMk id="4" creationId="{D2E218C8-361D-AF31-D842-06BDC8D13643}"/>
          </ac:spMkLst>
        </pc:spChg>
      </pc:sldChg>
      <pc:sldChg chg="addSp modSp mod">
        <pc:chgData name="Alma Golo" userId="1e56952753dbeda1" providerId="LiveId" clId="{C2850D2E-02C6-4134-80AB-CC17BA0C0F07}" dt="2026-03-08T13:13:30.662" v="17" actId="14100"/>
        <pc:sldMkLst>
          <pc:docMk/>
          <pc:sldMk cId="4254447861" sldId="258"/>
        </pc:sldMkLst>
        <pc:spChg chg="mod">
          <ac:chgData name="Alma Golo" userId="1e56952753dbeda1" providerId="LiveId" clId="{C2850D2E-02C6-4134-80AB-CC17BA0C0F07}" dt="2026-03-08T13:12:25.687" v="0" actId="255"/>
          <ac:spMkLst>
            <pc:docMk/>
            <pc:sldMk cId="4254447861" sldId="258"/>
            <ac:spMk id="3" creationId="{79B44E5B-CCB9-9F7B-4654-8BBE294D1324}"/>
          </ac:spMkLst>
        </pc:spChg>
        <pc:picChg chg="mod">
          <ac:chgData name="Alma Golo" userId="1e56952753dbeda1" providerId="LiveId" clId="{C2850D2E-02C6-4134-80AB-CC17BA0C0F07}" dt="2026-03-08T13:13:24.182" v="14" actId="1076"/>
          <ac:picMkLst>
            <pc:docMk/>
            <pc:sldMk cId="4254447861" sldId="258"/>
            <ac:picMk id="5" creationId="{3FD3EA1F-1C9A-9296-1C2E-6A322E395844}"/>
          </ac:picMkLst>
        </pc:picChg>
        <pc:picChg chg="add mod">
          <ac:chgData name="Alma Golo" userId="1e56952753dbeda1" providerId="LiveId" clId="{C2850D2E-02C6-4134-80AB-CC17BA0C0F07}" dt="2026-03-08T13:13:30.662" v="17" actId="14100"/>
          <ac:picMkLst>
            <pc:docMk/>
            <pc:sldMk cId="4254447861" sldId="258"/>
            <ac:picMk id="7" creationId="{65FF7722-6266-E2FC-9F9D-440B165E4201}"/>
          </ac:picMkLst>
        </pc:picChg>
      </pc:sldChg>
      <pc:sldChg chg="modSp mod">
        <pc:chgData name="Alma Golo" userId="1e56952753dbeda1" providerId="LiveId" clId="{C2850D2E-02C6-4134-80AB-CC17BA0C0F07}" dt="2026-03-08T13:13:42.195" v="18" actId="1076"/>
        <pc:sldMkLst>
          <pc:docMk/>
          <pc:sldMk cId="4139481476" sldId="259"/>
        </pc:sldMkLst>
        <pc:picChg chg="mod">
          <ac:chgData name="Alma Golo" userId="1e56952753dbeda1" providerId="LiveId" clId="{C2850D2E-02C6-4134-80AB-CC17BA0C0F07}" dt="2026-03-08T13:13:42.195" v="18" actId="1076"/>
          <ac:picMkLst>
            <pc:docMk/>
            <pc:sldMk cId="4139481476" sldId="259"/>
            <ac:picMk id="5" creationId="{DAECEBF5-845D-A322-EBCD-8B11100B549D}"/>
          </ac:picMkLst>
        </pc:picChg>
      </pc:sldChg>
      <pc:sldChg chg="modSp mod">
        <pc:chgData name="Alma Golo" userId="1e56952753dbeda1" providerId="LiveId" clId="{C2850D2E-02C6-4134-80AB-CC17BA0C0F07}" dt="2026-03-08T13:13:49.822" v="20" actId="14100"/>
        <pc:sldMkLst>
          <pc:docMk/>
          <pc:sldMk cId="2460808512" sldId="261"/>
        </pc:sldMkLst>
        <pc:picChg chg="mod">
          <ac:chgData name="Alma Golo" userId="1e56952753dbeda1" providerId="LiveId" clId="{C2850D2E-02C6-4134-80AB-CC17BA0C0F07}" dt="2026-03-08T13:13:49.822" v="20" actId="14100"/>
          <ac:picMkLst>
            <pc:docMk/>
            <pc:sldMk cId="2460808512" sldId="261"/>
            <ac:picMk id="5" creationId="{E6E62EB0-956E-BB81-1D39-0EBFDD5373FB}"/>
          </ac:picMkLst>
        </pc:picChg>
      </pc:sldChg>
      <pc:sldChg chg="modSp mod">
        <pc:chgData name="Alma Golo" userId="1e56952753dbeda1" providerId="LiveId" clId="{C2850D2E-02C6-4134-80AB-CC17BA0C0F07}" dt="2026-03-08T13:13:56.213" v="22" actId="14100"/>
        <pc:sldMkLst>
          <pc:docMk/>
          <pc:sldMk cId="3164390250" sldId="263"/>
        </pc:sldMkLst>
        <pc:picChg chg="mod">
          <ac:chgData name="Alma Golo" userId="1e56952753dbeda1" providerId="LiveId" clId="{C2850D2E-02C6-4134-80AB-CC17BA0C0F07}" dt="2026-03-08T13:13:56.213" v="22" actId="14100"/>
          <ac:picMkLst>
            <pc:docMk/>
            <pc:sldMk cId="3164390250" sldId="263"/>
            <ac:picMk id="5" creationId="{C57E6AD1-6573-C50F-4F21-90150D57B510}"/>
          </ac:picMkLst>
        </pc:picChg>
      </pc:sldChg>
      <pc:sldChg chg="modSp mod">
        <pc:chgData name="Alma Golo" userId="1e56952753dbeda1" providerId="LiveId" clId="{C2850D2E-02C6-4134-80AB-CC17BA0C0F07}" dt="2026-03-08T13:14:13.469" v="25" actId="1076"/>
        <pc:sldMkLst>
          <pc:docMk/>
          <pc:sldMk cId="2268269945" sldId="265"/>
        </pc:sldMkLst>
        <pc:picChg chg="mod">
          <ac:chgData name="Alma Golo" userId="1e56952753dbeda1" providerId="LiveId" clId="{C2850D2E-02C6-4134-80AB-CC17BA0C0F07}" dt="2026-03-08T13:14:13.469" v="25" actId="1076"/>
          <ac:picMkLst>
            <pc:docMk/>
            <pc:sldMk cId="2268269945" sldId="265"/>
            <ac:picMk id="5" creationId="{DABCF8F5-A3DE-D179-1843-185A20DC0DF6}"/>
          </ac:picMkLst>
        </pc:picChg>
      </pc:sldChg>
      <pc:sldChg chg="modSp mod">
        <pc:chgData name="Alma Golo" userId="1e56952753dbeda1" providerId="LiveId" clId="{C2850D2E-02C6-4134-80AB-CC17BA0C0F07}" dt="2026-03-08T13:53:39.599" v="49" actId="20577"/>
        <pc:sldMkLst>
          <pc:docMk/>
          <pc:sldMk cId="101567086" sldId="267"/>
        </pc:sldMkLst>
        <pc:spChg chg="mod">
          <ac:chgData name="Alma Golo" userId="1e56952753dbeda1" providerId="LiveId" clId="{C2850D2E-02C6-4134-80AB-CC17BA0C0F07}" dt="2026-03-08T13:53:39.599" v="49" actId="20577"/>
          <ac:spMkLst>
            <pc:docMk/>
            <pc:sldMk cId="101567086" sldId="267"/>
            <ac:spMk id="3" creationId="{905BFECF-A1D8-A94B-9CF0-999BB227D567}"/>
          </ac:spMkLst>
        </pc:spChg>
      </pc:sld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8AB99C6B-5E2E-4FD2-AD83-0CA9F892DC1D}" type="datetimeFigureOut">
              <a:rPr lang="en-US" smtClean="0"/>
              <a:t>19-Mar-26</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6B16ACF1-B975-4643-B8B6-4F6839374738}"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794733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AB99C6B-5E2E-4FD2-AD83-0CA9F892DC1D}" type="datetimeFigureOut">
              <a:rPr lang="en-US" smtClean="0"/>
              <a:t>19-Mar-26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B16ACF1-B975-4643-B8B6-4F6839374738}" type="slidenum">
              <a:rPr lang="en-US" smtClean="0"/>
              <a:t>‹#›</a:t>
            </a:fld>
            <a:endParaRPr lang="en-US"/>
          </a:p>
        </p:txBody>
      </p:sp>
    </p:spTree>
    <p:extLst>
      <p:ext uri="{BB962C8B-B14F-4D97-AF65-F5344CB8AC3E}">
        <p14:creationId xmlns:p14="http://schemas.microsoft.com/office/powerpoint/2010/main" val="1563098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AB99C6B-5E2E-4FD2-AD83-0CA9F892DC1D}" type="datetimeFigureOut">
              <a:rPr lang="en-US" smtClean="0"/>
              <a:t>19-Mar-26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B16ACF1-B975-4643-B8B6-4F6839374738}"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029441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AB99C6B-5E2E-4FD2-AD83-0CA9F892DC1D}" type="datetimeFigureOut">
              <a:rPr lang="en-US" smtClean="0"/>
              <a:t>19-Mar-26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B16ACF1-B975-4643-B8B6-4F6839374738}" type="slidenum">
              <a:rPr lang="en-US" smtClean="0"/>
              <a:t>‹#›</a:t>
            </a:fld>
            <a:endParaRPr lang="en-US"/>
          </a:p>
        </p:txBody>
      </p:sp>
    </p:spTree>
    <p:extLst>
      <p:ext uri="{BB962C8B-B14F-4D97-AF65-F5344CB8AC3E}">
        <p14:creationId xmlns:p14="http://schemas.microsoft.com/office/powerpoint/2010/main" val="3197163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AB99C6B-5E2E-4FD2-AD83-0CA9F892DC1D}" type="datetimeFigureOut">
              <a:rPr lang="en-US" smtClean="0"/>
              <a:t>19-Mar-26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B16ACF1-B975-4643-B8B6-4F6839374738}"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559965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AB99C6B-5E2E-4FD2-AD83-0CA9F892DC1D}" type="datetimeFigureOut">
              <a:rPr lang="en-US" smtClean="0"/>
              <a:t>19-Mar-26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B16ACF1-B975-4643-B8B6-4F6839374738}"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472689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AB99C6B-5E2E-4FD2-AD83-0CA9F892DC1D}" type="datetimeFigureOut">
              <a:rPr lang="en-US" smtClean="0"/>
              <a:t>19-Mar-26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B16ACF1-B975-4643-B8B6-4F6839374738}" type="slidenum">
              <a:rPr lang="en-US" smtClean="0"/>
              <a:t>‹#›</a:t>
            </a:fld>
            <a:endParaRPr lang="en-US"/>
          </a:p>
        </p:txBody>
      </p:sp>
    </p:spTree>
    <p:extLst>
      <p:ext uri="{BB962C8B-B14F-4D97-AF65-F5344CB8AC3E}">
        <p14:creationId xmlns:p14="http://schemas.microsoft.com/office/powerpoint/2010/main" val="14402455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AB99C6B-5E2E-4FD2-AD83-0CA9F892DC1D}" type="datetimeFigureOut">
              <a:rPr lang="en-US" smtClean="0"/>
              <a:t>19-Mar-26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B16ACF1-B975-4643-B8B6-4F6839374738}"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965381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AB99C6B-5E2E-4FD2-AD83-0CA9F892DC1D}" type="datetimeFigureOut">
              <a:rPr lang="en-US" smtClean="0"/>
              <a:t>19-Mar-26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B16ACF1-B975-4643-B8B6-4F6839374738}" type="slidenum">
              <a:rPr lang="en-US" smtClean="0"/>
              <a:t>‹#›</a:t>
            </a:fld>
            <a:endParaRPr lang="en-US"/>
          </a:p>
        </p:txBody>
      </p:sp>
    </p:spTree>
    <p:extLst>
      <p:ext uri="{BB962C8B-B14F-4D97-AF65-F5344CB8AC3E}">
        <p14:creationId xmlns:p14="http://schemas.microsoft.com/office/powerpoint/2010/main" val="25033881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AB99C6B-5E2E-4FD2-AD83-0CA9F892DC1D}" type="datetimeFigureOut">
              <a:rPr lang="en-US" smtClean="0"/>
              <a:t>19-Mar-26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B16ACF1-B975-4643-B8B6-4F6839374738}" type="slidenum">
              <a:rPr lang="en-US" smtClean="0"/>
              <a:t>‹#›</a:t>
            </a:fld>
            <a:endParaRPr lang="en-US"/>
          </a:p>
        </p:txBody>
      </p:sp>
    </p:spTree>
    <p:extLst>
      <p:ext uri="{BB962C8B-B14F-4D97-AF65-F5344CB8AC3E}">
        <p14:creationId xmlns:p14="http://schemas.microsoft.com/office/powerpoint/2010/main" val="30429250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AB99C6B-5E2E-4FD2-AD83-0CA9F892DC1D}" type="datetimeFigureOut">
              <a:rPr lang="en-US" smtClean="0"/>
              <a:t>19-Mar-26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B16ACF1-B975-4643-B8B6-4F6839374738}" type="slidenum">
              <a:rPr lang="en-US" smtClean="0"/>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010881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AB99C6B-5E2E-4FD2-AD83-0CA9F892DC1D}" type="datetimeFigureOut">
              <a:rPr lang="en-US" smtClean="0"/>
              <a:t>19-Mar-26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B16ACF1-B975-4643-B8B6-4F6839374738}"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495697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AB99C6B-5E2E-4FD2-AD83-0CA9F892DC1D}" type="datetimeFigureOut">
              <a:rPr lang="en-US" smtClean="0"/>
              <a:t>19-Mar-26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B16ACF1-B975-4643-B8B6-4F6839374738}" type="slidenum">
              <a:rPr lang="en-US" smtClean="0"/>
              <a:t>‹#›</a:t>
            </a:fld>
            <a:endParaRPr lang="en-US"/>
          </a:p>
        </p:txBody>
      </p:sp>
    </p:spTree>
    <p:extLst>
      <p:ext uri="{BB962C8B-B14F-4D97-AF65-F5344CB8AC3E}">
        <p14:creationId xmlns:p14="http://schemas.microsoft.com/office/powerpoint/2010/main" val="12917191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AB99C6B-5E2E-4FD2-AD83-0CA9F892DC1D}" type="datetimeFigureOut">
              <a:rPr lang="en-US" smtClean="0"/>
              <a:t>19-Mar-26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B16ACF1-B975-4643-B8B6-4F6839374738}"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366860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AB99C6B-5E2E-4FD2-AD83-0CA9F892DC1D}" type="datetimeFigureOut">
              <a:rPr lang="en-US" smtClean="0"/>
              <a:t>19-Mar-26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B16ACF1-B975-4643-B8B6-4F6839374738}" type="slidenum">
              <a:rPr lang="en-US" smtClean="0"/>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77734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AB99C6B-5E2E-4FD2-AD83-0CA9F892DC1D}" type="datetimeFigureOut">
              <a:rPr lang="en-US" smtClean="0"/>
              <a:t>19-Mar-26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B16ACF1-B975-4643-B8B6-4F6839374738}"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913538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AB99C6B-5E2E-4FD2-AD83-0CA9F892DC1D}" type="datetimeFigureOut">
              <a:rPr lang="en-US" smtClean="0"/>
              <a:t>19-Mar-26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B16ACF1-B975-4643-B8B6-4F6839374738}"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807371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8AB99C6B-5E2E-4FD2-AD83-0CA9F892DC1D}" type="datetimeFigureOut">
              <a:rPr lang="en-US" smtClean="0"/>
              <a:t>19-Mar-26</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B16ACF1-B975-4643-B8B6-4F6839374738}" type="slidenum">
              <a:rPr lang="en-US" smtClean="0"/>
              <a:t>‹#›</a:t>
            </a:fld>
            <a:endParaRPr lang="en-US"/>
          </a:p>
        </p:txBody>
      </p:sp>
    </p:spTree>
    <p:extLst>
      <p:ext uri="{BB962C8B-B14F-4D97-AF65-F5344CB8AC3E}">
        <p14:creationId xmlns:p14="http://schemas.microsoft.com/office/powerpoint/2010/main" val="4072401432"/>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 id="2147483766" r:id="rId12"/>
    <p:sldLayoutId id="2147483767" r:id="rId13"/>
    <p:sldLayoutId id="2147483768" r:id="rId14"/>
    <p:sldLayoutId id="2147483769" r:id="rId15"/>
    <p:sldLayoutId id="2147483770" r:id="rId16"/>
    <p:sldLayoutId id="2147483771"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5AA50-988C-2408-90F4-CFE32E517D83}"/>
              </a:ext>
            </a:extLst>
          </p:cNvPr>
          <p:cNvSpPr>
            <a:spLocks noGrp="1"/>
          </p:cNvSpPr>
          <p:nvPr>
            <p:ph type="ctrTitle"/>
          </p:nvPr>
        </p:nvSpPr>
        <p:spPr>
          <a:xfrm>
            <a:off x="2692398" y="1502229"/>
            <a:ext cx="6815669" cy="1884436"/>
          </a:xfrm>
        </p:spPr>
        <p:txBody>
          <a:bodyPr>
            <a:normAutofit/>
          </a:bodyPr>
          <a:lstStyle/>
          <a:p>
            <a:r>
              <a:rPr lang="en-US" sz="3000" dirty="0"/>
              <a:t>GHANA STOCK EXCHANGE (GSE) DASHBOARD REPORT </a:t>
            </a:r>
          </a:p>
        </p:txBody>
      </p:sp>
      <p:sp>
        <p:nvSpPr>
          <p:cNvPr id="4" name="TextBox 3">
            <a:extLst>
              <a:ext uri="{FF2B5EF4-FFF2-40B4-BE49-F238E27FC236}">
                <a16:creationId xmlns:a16="http://schemas.microsoft.com/office/drawing/2014/main" id="{D2E218C8-361D-AF31-D842-06BDC8D13643}"/>
              </a:ext>
            </a:extLst>
          </p:cNvPr>
          <p:cNvSpPr txBox="1"/>
          <p:nvPr/>
        </p:nvSpPr>
        <p:spPr>
          <a:xfrm>
            <a:off x="3037115" y="3776136"/>
            <a:ext cx="6117770" cy="1200329"/>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MARKET ANALYSIS REPORT: GHANA STOCK EXCHANGE (GSE)</a:t>
            </a:r>
            <a:endParaRPr lang="en-US" dirty="0">
              <a:latin typeface="Arial" panose="020B0604020202020204" pitchFamily="34" charset="0"/>
              <a:cs typeface="Arial" panose="020B0604020202020204" pitchFamily="34" charset="0"/>
            </a:endParaRPr>
          </a:p>
          <a:p>
            <a:r>
              <a:rPr lang="en-US" b="1" dirty="0">
                <a:latin typeface="Arial" panose="020B0604020202020204" pitchFamily="34" charset="0"/>
                <a:cs typeface="Arial" panose="020B0604020202020204" pitchFamily="34" charset="0"/>
              </a:rPr>
              <a:t>Date of Report:</a:t>
            </a:r>
            <a:r>
              <a:rPr lang="en-US" dirty="0">
                <a:latin typeface="Arial" panose="020B0604020202020204" pitchFamily="34" charset="0"/>
                <a:cs typeface="Arial" panose="020B0604020202020204" pitchFamily="34" charset="0"/>
              </a:rPr>
              <a:t> March 8, 2026</a:t>
            </a:r>
          </a:p>
          <a:p>
            <a:r>
              <a:rPr lang="en-US" b="1" dirty="0">
                <a:latin typeface="Arial" panose="020B0604020202020204" pitchFamily="34" charset="0"/>
                <a:cs typeface="Arial" panose="020B0604020202020204" pitchFamily="34" charset="0"/>
              </a:rPr>
              <a:t>Reporting Period:</a:t>
            </a:r>
            <a:r>
              <a:rPr lang="en-US" dirty="0">
                <a:latin typeface="Arial" panose="020B0604020202020204" pitchFamily="34" charset="0"/>
                <a:cs typeface="Arial" panose="020B0604020202020204" pitchFamily="34" charset="0"/>
              </a:rPr>
              <a:t> February 20 - February 26, 2026</a:t>
            </a:r>
          </a:p>
        </p:txBody>
      </p:sp>
    </p:spTree>
    <p:extLst>
      <p:ext uri="{BB962C8B-B14F-4D97-AF65-F5344CB8AC3E}">
        <p14:creationId xmlns:p14="http://schemas.microsoft.com/office/powerpoint/2010/main" val="13437301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EC1C8-89EB-16E7-E8DB-5F98E08C9B90}"/>
              </a:ext>
            </a:extLst>
          </p:cNvPr>
          <p:cNvSpPr>
            <a:spLocks noGrp="1"/>
          </p:cNvSpPr>
          <p:nvPr>
            <p:ph type="title"/>
          </p:nvPr>
        </p:nvSpPr>
        <p:spPr/>
        <p:txBody>
          <a:bodyPr>
            <a:normAutofit fontScale="90000"/>
          </a:bodyPr>
          <a:lstStyle/>
          <a:p>
            <a:r>
              <a:rPr lang="en-US" dirty="0"/>
              <a:t>Executive Market Summary</a:t>
            </a:r>
            <a:br>
              <a:rPr lang="en-US" dirty="0"/>
            </a:br>
            <a:endParaRPr lang="en-US" dirty="0"/>
          </a:p>
        </p:txBody>
      </p:sp>
      <p:sp>
        <p:nvSpPr>
          <p:cNvPr id="3" name="Content Placeholder 2">
            <a:extLst>
              <a:ext uri="{FF2B5EF4-FFF2-40B4-BE49-F238E27FC236}">
                <a16:creationId xmlns:a16="http://schemas.microsoft.com/office/drawing/2014/main" id="{8D63D193-F333-BD5F-E822-2D23BAEB2CAF}"/>
              </a:ext>
            </a:extLst>
          </p:cNvPr>
          <p:cNvSpPr>
            <a:spLocks noGrp="1"/>
          </p:cNvSpPr>
          <p:nvPr>
            <p:ph idx="1"/>
          </p:nvPr>
        </p:nvSpPr>
        <p:spPr/>
        <p:txBody>
          <a:bodyPr/>
          <a:lstStyle/>
          <a:p>
            <a:pPr>
              <a:lnSpc>
                <a:spcPct val="150000"/>
              </a:lnSpc>
            </a:pPr>
            <a:r>
              <a:rPr lang="en-US" dirty="0">
                <a:latin typeface="Arial" panose="020B0604020202020204" pitchFamily="34" charset="0"/>
                <a:cs typeface="Arial" panose="020B0604020202020204" pitchFamily="34" charset="0"/>
              </a:rPr>
              <a:t>The Ghana Stock Exchange demonstrated robust bullish behavior during the trading session ending February 26, 2026. The market is characterized by strong upward momentum in major indices and high liquidity concentration in the banking sectors.</a:t>
            </a:r>
          </a:p>
          <a:p>
            <a:pPr marL="0" indent="0">
              <a:buNone/>
            </a:pPr>
            <a:endParaRPr lang="en-US" dirty="0"/>
          </a:p>
        </p:txBody>
      </p:sp>
    </p:spTree>
    <p:extLst>
      <p:ext uri="{BB962C8B-B14F-4D97-AF65-F5344CB8AC3E}">
        <p14:creationId xmlns:p14="http://schemas.microsoft.com/office/powerpoint/2010/main" val="38637725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D6A6A3-E1D7-CBB7-962E-7F1F958AE5E8}"/>
              </a:ext>
            </a:extLst>
          </p:cNvPr>
          <p:cNvSpPr>
            <a:spLocks noGrp="1"/>
          </p:cNvSpPr>
          <p:nvPr>
            <p:ph type="title"/>
          </p:nvPr>
        </p:nvSpPr>
        <p:spPr/>
        <p:txBody>
          <a:bodyPr/>
          <a:lstStyle/>
          <a:p>
            <a:r>
              <a:rPr lang="en-US" b="1" i="1" dirty="0"/>
              <a:t>Key Investment Insights</a:t>
            </a:r>
            <a:endParaRPr lang="en-US" i="1" dirty="0"/>
          </a:p>
        </p:txBody>
      </p:sp>
      <p:sp>
        <p:nvSpPr>
          <p:cNvPr id="3" name="Content Placeholder 2">
            <a:extLst>
              <a:ext uri="{FF2B5EF4-FFF2-40B4-BE49-F238E27FC236}">
                <a16:creationId xmlns:a16="http://schemas.microsoft.com/office/drawing/2014/main" id="{79B44E5B-CCB9-9F7B-4654-8BBE294D1324}"/>
              </a:ext>
            </a:extLst>
          </p:cNvPr>
          <p:cNvSpPr>
            <a:spLocks noGrp="1"/>
          </p:cNvSpPr>
          <p:nvPr>
            <p:ph idx="1"/>
          </p:nvPr>
        </p:nvSpPr>
        <p:spPr/>
        <p:txBody>
          <a:bodyPr/>
          <a:lstStyle/>
          <a:p>
            <a:pPr algn="ctr">
              <a:lnSpc>
                <a:spcPct val="150000"/>
              </a:lnSpc>
            </a:pPr>
            <a:r>
              <a:rPr lang="en-US" dirty="0">
                <a:latin typeface="Arial" panose="020B0604020202020204" pitchFamily="34" charset="0"/>
                <a:cs typeface="Arial" panose="020B0604020202020204" pitchFamily="34" charset="0"/>
              </a:rPr>
              <a:t>The GSE Financial Index (GSE-FI) acted as the primary market driver, gaining +345.1 points, significantly outpacing the broader Composite Index. This suggests that the banking and insurance sectors (led by GCB, ACCESS, and EGH) are currently the preferred vehicles for capital appreciation.</a:t>
            </a:r>
          </a:p>
          <a:p>
            <a:endParaRPr lang="en-US" dirty="0"/>
          </a:p>
        </p:txBody>
      </p:sp>
    </p:spTree>
    <p:extLst>
      <p:ext uri="{BB962C8B-B14F-4D97-AF65-F5344CB8AC3E}">
        <p14:creationId xmlns:p14="http://schemas.microsoft.com/office/powerpoint/2010/main" val="42544478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FD3EA1F-1C9A-9296-1C2E-6A322E395844}"/>
              </a:ext>
            </a:extLst>
          </p:cNvPr>
          <p:cNvPicPr>
            <a:picLocks noChangeAspect="1"/>
          </p:cNvPicPr>
          <p:nvPr/>
        </p:nvPicPr>
        <p:blipFill>
          <a:blip r:embed="rId2"/>
          <a:stretch>
            <a:fillRect/>
          </a:stretch>
        </p:blipFill>
        <p:spPr>
          <a:xfrm>
            <a:off x="967637" y="1386348"/>
            <a:ext cx="9592208" cy="4616246"/>
          </a:xfrm>
          <a:prstGeom prst="rect">
            <a:avLst/>
          </a:prstGeom>
        </p:spPr>
      </p:pic>
    </p:spTree>
    <p:extLst>
      <p:ext uri="{BB962C8B-B14F-4D97-AF65-F5344CB8AC3E}">
        <p14:creationId xmlns:p14="http://schemas.microsoft.com/office/powerpoint/2010/main" val="1456194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90AD6-526D-EA87-8615-84F4B35046EC}"/>
              </a:ext>
            </a:extLst>
          </p:cNvPr>
          <p:cNvSpPr>
            <a:spLocks noGrp="1"/>
          </p:cNvSpPr>
          <p:nvPr>
            <p:ph type="title"/>
          </p:nvPr>
        </p:nvSpPr>
        <p:spPr/>
        <p:txBody>
          <a:bodyPr/>
          <a:lstStyle/>
          <a:p>
            <a:r>
              <a:rPr lang="en-US" b="1" dirty="0"/>
              <a:t>Key Investment Insights</a:t>
            </a:r>
            <a:endParaRPr lang="en-US" dirty="0"/>
          </a:p>
        </p:txBody>
      </p:sp>
      <p:sp>
        <p:nvSpPr>
          <p:cNvPr id="3" name="Content Placeholder 2">
            <a:extLst>
              <a:ext uri="{FF2B5EF4-FFF2-40B4-BE49-F238E27FC236}">
                <a16:creationId xmlns:a16="http://schemas.microsoft.com/office/drawing/2014/main" id="{6F41F3B3-9D2E-F928-E4FD-119A8BE763E2}"/>
              </a:ext>
            </a:extLst>
          </p:cNvPr>
          <p:cNvSpPr>
            <a:spLocks noGrp="1"/>
          </p:cNvSpPr>
          <p:nvPr>
            <p:ph idx="1"/>
          </p:nvPr>
        </p:nvSpPr>
        <p:spPr/>
        <p:txBody>
          <a:bodyPr/>
          <a:lstStyle/>
          <a:p>
            <a:pPr marL="0" indent="0">
              <a:buNone/>
            </a:pPr>
            <a:r>
              <a:rPr lang="en-US" sz="2600" b="1" dirty="0">
                <a:latin typeface="Arial" panose="020B0604020202020204" pitchFamily="34" charset="0"/>
                <a:cs typeface="Arial" panose="020B0604020202020204" pitchFamily="34" charset="0"/>
              </a:rPr>
              <a:t>Consistent Weekly Growth Trajectory</a:t>
            </a:r>
            <a:endParaRPr lang="en-US" sz="2600" dirty="0">
              <a:latin typeface="Arial" panose="020B0604020202020204" pitchFamily="34" charset="0"/>
              <a:cs typeface="Arial" panose="020B0604020202020204" pitchFamily="34" charset="0"/>
            </a:endParaRPr>
          </a:p>
          <a:p>
            <a:endParaRPr lang="en-US" dirty="0"/>
          </a:p>
        </p:txBody>
      </p:sp>
      <p:pic>
        <p:nvPicPr>
          <p:cNvPr id="5" name="Picture 4">
            <a:extLst>
              <a:ext uri="{FF2B5EF4-FFF2-40B4-BE49-F238E27FC236}">
                <a16:creationId xmlns:a16="http://schemas.microsoft.com/office/drawing/2014/main" id="{DAECEBF5-845D-A322-EBCD-8B11100B549D}"/>
              </a:ext>
            </a:extLst>
          </p:cNvPr>
          <p:cNvPicPr>
            <a:picLocks noChangeAspect="1"/>
          </p:cNvPicPr>
          <p:nvPr/>
        </p:nvPicPr>
        <p:blipFill>
          <a:blip r:embed="rId2"/>
          <a:stretch>
            <a:fillRect/>
          </a:stretch>
        </p:blipFill>
        <p:spPr>
          <a:xfrm>
            <a:off x="1374646" y="3043949"/>
            <a:ext cx="8443642" cy="3056106"/>
          </a:xfrm>
          <a:prstGeom prst="rect">
            <a:avLst/>
          </a:prstGeom>
        </p:spPr>
      </p:pic>
    </p:spTree>
    <p:extLst>
      <p:ext uri="{BB962C8B-B14F-4D97-AF65-F5344CB8AC3E}">
        <p14:creationId xmlns:p14="http://schemas.microsoft.com/office/powerpoint/2010/main" val="41394814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FDC21-E522-BE76-394B-787211AF76E7}"/>
              </a:ext>
            </a:extLst>
          </p:cNvPr>
          <p:cNvSpPr>
            <a:spLocks noGrp="1"/>
          </p:cNvSpPr>
          <p:nvPr>
            <p:ph type="title"/>
          </p:nvPr>
        </p:nvSpPr>
        <p:spPr/>
        <p:txBody>
          <a:bodyPr/>
          <a:lstStyle/>
          <a:p>
            <a:r>
              <a:rPr lang="en-US" b="1" i="1" dirty="0"/>
              <a:t>Key Investment Insights</a:t>
            </a:r>
            <a:endParaRPr lang="en-US" dirty="0"/>
          </a:p>
        </p:txBody>
      </p:sp>
      <p:sp>
        <p:nvSpPr>
          <p:cNvPr id="3" name="Content Placeholder 2">
            <a:extLst>
              <a:ext uri="{FF2B5EF4-FFF2-40B4-BE49-F238E27FC236}">
                <a16:creationId xmlns:a16="http://schemas.microsoft.com/office/drawing/2014/main" id="{9B1EC872-7810-C2FE-129E-A72F02322317}"/>
              </a:ext>
            </a:extLst>
          </p:cNvPr>
          <p:cNvSpPr>
            <a:spLocks noGrp="1"/>
          </p:cNvSpPr>
          <p:nvPr>
            <p:ph idx="1"/>
          </p:nvPr>
        </p:nvSpPr>
        <p:spPr/>
        <p:txBody>
          <a:bodyPr>
            <a:normAutofit/>
          </a:bodyPr>
          <a:lstStyle/>
          <a:p>
            <a:r>
              <a:rPr lang="en-US" sz="2600" b="1" dirty="0">
                <a:latin typeface="Arial" panose="020B0604020202020204" pitchFamily="34" charset="0"/>
                <a:cs typeface="Arial" panose="020B0604020202020204" pitchFamily="34" charset="0"/>
              </a:rPr>
              <a:t>Consistent Weekly Growth Trajectory</a:t>
            </a:r>
          </a:p>
          <a:p>
            <a:endParaRPr lang="en-US" dirty="0">
              <a:latin typeface="Arial" panose="020B0604020202020204" pitchFamily="34" charset="0"/>
              <a:cs typeface="Arial" panose="020B0604020202020204" pitchFamily="34" charset="0"/>
            </a:endParaRPr>
          </a:p>
          <a:p>
            <a:pPr marL="0" indent="0">
              <a:buNone/>
            </a:pPr>
            <a:r>
              <a:rPr lang="en-US" dirty="0">
                <a:latin typeface="Arial" panose="020B0604020202020204" pitchFamily="34" charset="0"/>
                <a:cs typeface="Arial" panose="020B0604020202020204" pitchFamily="34" charset="0"/>
              </a:rPr>
              <a:t>The "Index Performance" trend shows a "staircase" upward movement with no significant dips between February 20 and February 26. This technical pattern suggests a </a:t>
            </a:r>
            <a:r>
              <a:rPr lang="en-US" b="1" dirty="0">
                <a:latin typeface="Arial" panose="020B0604020202020204" pitchFamily="34" charset="0"/>
                <a:cs typeface="Arial" panose="020B0604020202020204" pitchFamily="34" charset="0"/>
              </a:rPr>
              <a:t>strong support level</a:t>
            </a:r>
            <a:r>
              <a:rPr lang="en-US" dirty="0">
                <a:latin typeface="Arial" panose="020B0604020202020204" pitchFamily="34" charset="0"/>
                <a:cs typeface="Arial" panose="020B0604020202020204" pitchFamily="34" charset="0"/>
              </a:rPr>
              <a:t> and sustained buying interest, rather than speculative volatility.</a:t>
            </a:r>
          </a:p>
          <a:p>
            <a:endParaRPr lang="en-US" dirty="0"/>
          </a:p>
        </p:txBody>
      </p:sp>
    </p:spTree>
    <p:extLst>
      <p:ext uri="{BB962C8B-B14F-4D97-AF65-F5344CB8AC3E}">
        <p14:creationId xmlns:p14="http://schemas.microsoft.com/office/powerpoint/2010/main" val="31805049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D4C0E-6108-F746-E557-A1EA4B88AD2E}"/>
              </a:ext>
            </a:extLst>
          </p:cNvPr>
          <p:cNvSpPr>
            <a:spLocks noGrp="1"/>
          </p:cNvSpPr>
          <p:nvPr>
            <p:ph type="title"/>
          </p:nvPr>
        </p:nvSpPr>
        <p:spPr/>
        <p:txBody>
          <a:bodyPr/>
          <a:lstStyle/>
          <a:p>
            <a:r>
              <a:rPr lang="en-US" b="1" i="1" dirty="0"/>
              <a:t>Key Investment Insights</a:t>
            </a:r>
            <a:endParaRPr lang="en-US" dirty="0"/>
          </a:p>
        </p:txBody>
      </p:sp>
      <p:sp>
        <p:nvSpPr>
          <p:cNvPr id="3" name="Content Placeholder 2">
            <a:extLst>
              <a:ext uri="{FF2B5EF4-FFF2-40B4-BE49-F238E27FC236}">
                <a16:creationId xmlns:a16="http://schemas.microsoft.com/office/drawing/2014/main" id="{AF48032E-B211-4DDD-3494-5FCF80165723}"/>
              </a:ext>
            </a:extLst>
          </p:cNvPr>
          <p:cNvSpPr>
            <a:spLocks noGrp="1"/>
          </p:cNvSpPr>
          <p:nvPr>
            <p:ph idx="1"/>
          </p:nvPr>
        </p:nvSpPr>
        <p:spPr/>
        <p:txBody>
          <a:bodyPr/>
          <a:lstStyle/>
          <a:p>
            <a:pPr marL="0" indent="0">
              <a:buNone/>
            </a:pPr>
            <a:r>
              <a:rPr lang="en-US" sz="2600" b="1" dirty="0">
                <a:latin typeface="Arial" panose="020B0604020202020204" pitchFamily="34" charset="0"/>
                <a:cs typeface="Arial" panose="020B0604020202020204" pitchFamily="34" charset="0"/>
              </a:rPr>
              <a:t>Outsized Gains in BOPP</a:t>
            </a:r>
            <a:endParaRPr lang="en-US" sz="2600" dirty="0">
              <a:latin typeface="Arial" panose="020B0604020202020204" pitchFamily="34" charset="0"/>
              <a:cs typeface="Arial" panose="020B0604020202020204" pitchFamily="34" charset="0"/>
            </a:endParaRPr>
          </a:p>
          <a:p>
            <a:pPr marL="0" indent="0">
              <a:buNone/>
            </a:pPr>
            <a:endParaRPr lang="en-US" dirty="0"/>
          </a:p>
        </p:txBody>
      </p:sp>
      <p:pic>
        <p:nvPicPr>
          <p:cNvPr id="6" name="Picture 5" descr="A graph of a number of people&#10;&#10;AI-generated content may be incorrect.">
            <a:extLst>
              <a:ext uri="{FF2B5EF4-FFF2-40B4-BE49-F238E27FC236}">
                <a16:creationId xmlns:a16="http://schemas.microsoft.com/office/drawing/2014/main" id="{C9668159-F20C-F317-A36A-E9BB24C88B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95578" y="3390216"/>
            <a:ext cx="6498048" cy="2485652"/>
          </a:xfrm>
          <a:prstGeom prst="rect">
            <a:avLst/>
          </a:prstGeom>
        </p:spPr>
      </p:pic>
    </p:spTree>
    <p:extLst>
      <p:ext uri="{BB962C8B-B14F-4D97-AF65-F5344CB8AC3E}">
        <p14:creationId xmlns:p14="http://schemas.microsoft.com/office/powerpoint/2010/main" val="24608085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8E37F-C1FC-5DA3-5B5B-7B83E637535C}"/>
              </a:ext>
            </a:extLst>
          </p:cNvPr>
          <p:cNvSpPr>
            <a:spLocks noGrp="1"/>
          </p:cNvSpPr>
          <p:nvPr>
            <p:ph type="title"/>
          </p:nvPr>
        </p:nvSpPr>
        <p:spPr/>
        <p:txBody>
          <a:bodyPr/>
          <a:lstStyle/>
          <a:p>
            <a:r>
              <a:rPr lang="en-US" b="1" i="1" dirty="0"/>
              <a:t>Key Investment Insights</a:t>
            </a:r>
            <a:endParaRPr lang="en-US" dirty="0"/>
          </a:p>
        </p:txBody>
      </p:sp>
      <p:sp>
        <p:nvSpPr>
          <p:cNvPr id="3" name="Content Placeholder 2">
            <a:extLst>
              <a:ext uri="{FF2B5EF4-FFF2-40B4-BE49-F238E27FC236}">
                <a16:creationId xmlns:a16="http://schemas.microsoft.com/office/drawing/2014/main" id="{F0D570FF-670F-6137-D833-6CB3C45BE7AF}"/>
              </a:ext>
            </a:extLst>
          </p:cNvPr>
          <p:cNvSpPr>
            <a:spLocks noGrp="1"/>
          </p:cNvSpPr>
          <p:nvPr>
            <p:ph idx="1"/>
          </p:nvPr>
        </p:nvSpPr>
        <p:spPr/>
        <p:txBody>
          <a:bodyPr/>
          <a:lstStyle/>
          <a:p>
            <a:pPr marL="0" indent="0">
              <a:buNone/>
            </a:pPr>
            <a:r>
              <a:rPr lang="en-US" sz="2600" b="1" dirty="0">
                <a:latin typeface="Arial" panose="020B0604020202020204" pitchFamily="34" charset="0"/>
                <a:cs typeface="Arial" panose="020B0604020202020204" pitchFamily="34" charset="0"/>
              </a:rPr>
              <a:t>Outsized Gains in BOPP</a:t>
            </a:r>
          </a:p>
          <a:p>
            <a:pPr marL="0" indent="0">
              <a:buNone/>
            </a:pPr>
            <a:r>
              <a:rPr lang="en-US" b="1" dirty="0">
                <a:latin typeface="Arial" panose="020B0604020202020204" pitchFamily="34" charset="0"/>
                <a:cs typeface="Arial" panose="020B0604020202020204" pitchFamily="34" charset="0"/>
              </a:rPr>
              <a:t>Benso Oil Palm Plantation (BOPP)</a:t>
            </a:r>
            <a:r>
              <a:rPr lang="en-US" dirty="0">
                <a:latin typeface="Arial" panose="020B0604020202020204" pitchFamily="34" charset="0"/>
                <a:cs typeface="Arial" panose="020B0604020202020204" pitchFamily="34" charset="0"/>
              </a:rPr>
              <a:t> was the day's top performer by price change, gaining over </a:t>
            </a:r>
            <a:r>
              <a:rPr lang="en-US" b="1" dirty="0">
                <a:latin typeface="Arial" panose="020B0604020202020204" pitchFamily="34" charset="0"/>
                <a:cs typeface="Arial" panose="020B0604020202020204" pitchFamily="34" charset="0"/>
              </a:rPr>
              <a:t>GH¢ 6</a:t>
            </a:r>
            <a:r>
              <a:rPr lang="en-US" dirty="0">
                <a:latin typeface="Arial" panose="020B0604020202020204" pitchFamily="34" charset="0"/>
                <a:cs typeface="Arial" panose="020B0604020202020204" pitchFamily="34" charset="0"/>
              </a:rPr>
              <a:t>.</a:t>
            </a:r>
            <a:r>
              <a:rPr lang="en-US" b="1" dirty="0">
                <a:latin typeface="Arial" panose="020B0604020202020204" pitchFamily="34" charset="0"/>
                <a:cs typeface="Arial" panose="020B0604020202020204" pitchFamily="34" charset="0"/>
              </a:rPr>
              <a:t>6</a:t>
            </a:r>
            <a:r>
              <a:rPr lang="en-US" dirty="0">
                <a:latin typeface="Arial" panose="020B0604020202020204" pitchFamily="34" charset="0"/>
                <a:cs typeface="Arial" panose="020B0604020202020204" pitchFamily="34" charset="0"/>
              </a:rPr>
              <a:t> This is more than double the gains of the next highest mover (ACCESS), signaling potential sector-specific tailwinds in the agricultural or consumer goods space.</a:t>
            </a:r>
          </a:p>
          <a:p>
            <a:pPr marL="0" indent="0">
              <a:buNone/>
            </a:pPr>
            <a:endParaRPr lang="en-US" sz="2600" dirty="0">
              <a:latin typeface="Arial" panose="020B0604020202020204" pitchFamily="34" charset="0"/>
              <a:cs typeface="Arial" panose="020B0604020202020204" pitchFamily="34" charset="0"/>
            </a:endParaRPr>
          </a:p>
          <a:p>
            <a:endParaRPr lang="en-US" dirty="0"/>
          </a:p>
        </p:txBody>
      </p:sp>
    </p:spTree>
    <p:extLst>
      <p:ext uri="{BB962C8B-B14F-4D97-AF65-F5344CB8AC3E}">
        <p14:creationId xmlns:p14="http://schemas.microsoft.com/office/powerpoint/2010/main" val="15474909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323B4-CE3A-FE25-CEEE-794935EFEBBA}"/>
              </a:ext>
            </a:extLst>
          </p:cNvPr>
          <p:cNvSpPr>
            <a:spLocks noGrp="1"/>
          </p:cNvSpPr>
          <p:nvPr>
            <p:ph type="title"/>
          </p:nvPr>
        </p:nvSpPr>
        <p:spPr/>
        <p:txBody>
          <a:bodyPr/>
          <a:lstStyle/>
          <a:p>
            <a:r>
              <a:rPr lang="en-US" b="1" i="1" dirty="0"/>
              <a:t>Key Investment Insights</a:t>
            </a:r>
            <a:endParaRPr lang="en-US" dirty="0"/>
          </a:p>
        </p:txBody>
      </p:sp>
      <p:sp>
        <p:nvSpPr>
          <p:cNvPr id="3" name="Content Placeholder 2">
            <a:extLst>
              <a:ext uri="{FF2B5EF4-FFF2-40B4-BE49-F238E27FC236}">
                <a16:creationId xmlns:a16="http://schemas.microsoft.com/office/drawing/2014/main" id="{1721A7E3-B253-4355-ED6E-CF18127A3F13}"/>
              </a:ext>
            </a:extLst>
          </p:cNvPr>
          <p:cNvSpPr>
            <a:spLocks noGrp="1"/>
          </p:cNvSpPr>
          <p:nvPr>
            <p:ph idx="1"/>
          </p:nvPr>
        </p:nvSpPr>
        <p:spPr/>
        <p:txBody>
          <a:bodyPr/>
          <a:lstStyle/>
          <a:p>
            <a:pPr marL="0" indent="0">
              <a:buNone/>
            </a:pPr>
            <a:r>
              <a:rPr lang="en-US" sz="2600" b="1" dirty="0">
                <a:latin typeface="Arial" panose="020B0604020202020204" pitchFamily="34" charset="0"/>
                <a:cs typeface="Arial" panose="020B0604020202020204" pitchFamily="34" charset="0"/>
              </a:rPr>
              <a:t>Minimal Downside Volatility</a:t>
            </a:r>
            <a:endParaRPr lang="en-US" sz="2600" dirty="0">
              <a:latin typeface="Arial" panose="020B0604020202020204" pitchFamily="34" charset="0"/>
              <a:cs typeface="Arial" panose="020B0604020202020204" pitchFamily="34" charset="0"/>
            </a:endParaRPr>
          </a:p>
          <a:p>
            <a:endParaRPr lang="en-US" dirty="0"/>
          </a:p>
        </p:txBody>
      </p:sp>
      <p:pic>
        <p:nvPicPr>
          <p:cNvPr id="5" name="Picture 4">
            <a:extLst>
              <a:ext uri="{FF2B5EF4-FFF2-40B4-BE49-F238E27FC236}">
                <a16:creationId xmlns:a16="http://schemas.microsoft.com/office/drawing/2014/main" id="{C57E6AD1-6573-C50F-4F21-90150D57B510}"/>
              </a:ext>
            </a:extLst>
          </p:cNvPr>
          <p:cNvPicPr>
            <a:picLocks noChangeAspect="1"/>
          </p:cNvPicPr>
          <p:nvPr/>
        </p:nvPicPr>
        <p:blipFill>
          <a:blip r:embed="rId2"/>
          <a:stretch>
            <a:fillRect/>
          </a:stretch>
        </p:blipFill>
        <p:spPr>
          <a:xfrm>
            <a:off x="1887746" y="3135087"/>
            <a:ext cx="5819339" cy="2841170"/>
          </a:xfrm>
          <a:prstGeom prst="rect">
            <a:avLst/>
          </a:prstGeom>
        </p:spPr>
      </p:pic>
    </p:spTree>
    <p:extLst>
      <p:ext uri="{BB962C8B-B14F-4D97-AF65-F5344CB8AC3E}">
        <p14:creationId xmlns:p14="http://schemas.microsoft.com/office/powerpoint/2010/main" val="31643902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A5E44-EE61-84CA-6EB6-22BFC0770628}"/>
              </a:ext>
            </a:extLst>
          </p:cNvPr>
          <p:cNvSpPr>
            <a:spLocks noGrp="1"/>
          </p:cNvSpPr>
          <p:nvPr>
            <p:ph type="title"/>
          </p:nvPr>
        </p:nvSpPr>
        <p:spPr/>
        <p:txBody>
          <a:bodyPr/>
          <a:lstStyle/>
          <a:p>
            <a:r>
              <a:rPr lang="en-US" b="1" i="1" dirty="0"/>
              <a:t>Key Investment Insights</a:t>
            </a:r>
            <a:endParaRPr lang="en-US" dirty="0"/>
          </a:p>
        </p:txBody>
      </p:sp>
      <p:sp>
        <p:nvSpPr>
          <p:cNvPr id="3" name="Content Placeholder 2">
            <a:extLst>
              <a:ext uri="{FF2B5EF4-FFF2-40B4-BE49-F238E27FC236}">
                <a16:creationId xmlns:a16="http://schemas.microsoft.com/office/drawing/2014/main" id="{C1DC90E0-FC25-A4A8-D929-90605A615F34}"/>
              </a:ext>
            </a:extLst>
          </p:cNvPr>
          <p:cNvSpPr>
            <a:spLocks noGrp="1"/>
          </p:cNvSpPr>
          <p:nvPr>
            <p:ph idx="1"/>
          </p:nvPr>
        </p:nvSpPr>
        <p:spPr/>
        <p:txBody>
          <a:bodyPr>
            <a:normAutofit/>
          </a:bodyPr>
          <a:lstStyle/>
          <a:p>
            <a:endParaRPr lang="en-US" dirty="0"/>
          </a:p>
          <a:p>
            <a:pPr marL="0" indent="0">
              <a:buNone/>
            </a:pPr>
            <a:r>
              <a:rPr lang="en-US" sz="2600" b="1" dirty="0">
                <a:latin typeface="Arial" panose="020B0604020202020204" pitchFamily="34" charset="0"/>
                <a:cs typeface="Arial" panose="020B0604020202020204" pitchFamily="34" charset="0"/>
              </a:rPr>
              <a:t>Minimal Downside Volatility</a:t>
            </a:r>
            <a:endParaRPr lang="en-US" sz="2600"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Market breadth was overwhelmingly positive. Only two stocks, </a:t>
            </a:r>
            <a:r>
              <a:rPr lang="en-US" b="1" dirty="0">
                <a:latin typeface="Arial" panose="020B0604020202020204" pitchFamily="34" charset="0"/>
                <a:cs typeface="Arial" panose="020B0604020202020204" pitchFamily="34" charset="0"/>
              </a:rPr>
              <a:t>MTNGH</a:t>
            </a:r>
            <a:r>
              <a:rPr lang="en-US" dirty="0">
                <a:latin typeface="Arial" panose="020B0604020202020204" pitchFamily="34" charset="0"/>
                <a:cs typeface="Arial" panose="020B0604020202020204" pitchFamily="34" charset="0"/>
              </a:rPr>
              <a:t> and </a:t>
            </a:r>
            <a:r>
              <a:rPr lang="en-US" b="1" dirty="0">
                <a:latin typeface="Arial" panose="020B0604020202020204" pitchFamily="34" charset="0"/>
                <a:cs typeface="Arial" panose="020B0604020202020204" pitchFamily="34" charset="0"/>
              </a:rPr>
              <a:t>CAL Bank</a:t>
            </a:r>
            <a:r>
              <a:rPr lang="en-US" dirty="0">
                <a:latin typeface="Arial" panose="020B0604020202020204" pitchFamily="34" charset="0"/>
                <a:cs typeface="Arial" panose="020B0604020202020204" pitchFamily="34" charset="0"/>
              </a:rPr>
              <a:t>, showed any downward movement, and these were marginal (nearly 0 GH¢). This indicates a lack of selling pressure and a "hold" sentiment among current shareholders.</a:t>
            </a:r>
          </a:p>
          <a:p>
            <a:endParaRPr lang="en-US" dirty="0"/>
          </a:p>
        </p:txBody>
      </p:sp>
    </p:spTree>
    <p:extLst>
      <p:ext uri="{BB962C8B-B14F-4D97-AF65-F5344CB8AC3E}">
        <p14:creationId xmlns:p14="http://schemas.microsoft.com/office/powerpoint/2010/main" val="17023561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40FE6-A465-A8EA-5A12-3684E34AF397}"/>
              </a:ext>
            </a:extLst>
          </p:cNvPr>
          <p:cNvSpPr>
            <a:spLocks noGrp="1"/>
          </p:cNvSpPr>
          <p:nvPr>
            <p:ph type="title"/>
          </p:nvPr>
        </p:nvSpPr>
        <p:spPr/>
        <p:txBody>
          <a:bodyPr/>
          <a:lstStyle/>
          <a:p>
            <a:r>
              <a:rPr lang="en-US" b="1" i="1" dirty="0"/>
              <a:t>Key Investment Insights</a:t>
            </a:r>
            <a:endParaRPr lang="en-US" dirty="0"/>
          </a:p>
        </p:txBody>
      </p:sp>
      <p:sp>
        <p:nvSpPr>
          <p:cNvPr id="3" name="Content Placeholder 2">
            <a:extLst>
              <a:ext uri="{FF2B5EF4-FFF2-40B4-BE49-F238E27FC236}">
                <a16:creationId xmlns:a16="http://schemas.microsoft.com/office/drawing/2014/main" id="{44EE28C8-55FA-D682-6905-EA64D7BDACFF}"/>
              </a:ext>
            </a:extLst>
          </p:cNvPr>
          <p:cNvSpPr>
            <a:spLocks noGrp="1"/>
          </p:cNvSpPr>
          <p:nvPr>
            <p:ph idx="1"/>
          </p:nvPr>
        </p:nvSpPr>
        <p:spPr/>
        <p:txBody>
          <a:bodyPr/>
          <a:lstStyle/>
          <a:p>
            <a:pPr marL="0" indent="0">
              <a:buNone/>
            </a:pPr>
            <a:r>
              <a:rPr lang="en-US" sz="2600" b="1" dirty="0">
                <a:latin typeface="Arial" panose="020B0604020202020204" pitchFamily="34" charset="0"/>
                <a:cs typeface="Arial" panose="020B0604020202020204" pitchFamily="34" charset="0"/>
              </a:rPr>
              <a:t>Total Value of Shares Traded (Top 7 Stocks)</a:t>
            </a:r>
          </a:p>
          <a:p>
            <a:endParaRPr lang="en-US" dirty="0"/>
          </a:p>
          <a:p>
            <a:endParaRPr lang="en-US" dirty="0"/>
          </a:p>
        </p:txBody>
      </p:sp>
      <p:pic>
        <p:nvPicPr>
          <p:cNvPr id="5" name="Picture 4">
            <a:extLst>
              <a:ext uri="{FF2B5EF4-FFF2-40B4-BE49-F238E27FC236}">
                <a16:creationId xmlns:a16="http://schemas.microsoft.com/office/drawing/2014/main" id="{DABCF8F5-A3DE-D179-1843-185A20DC0DF6}"/>
              </a:ext>
            </a:extLst>
          </p:cNvPr>
          <p:cNvPicPr>
            <a:picLocks noChangeAspect="1"/>
          </p:cNvPicPr>
          <p:nvPr/>
        </p:nvPicPr>
        <p:blipFill>
          <a:blip r:embed="rId2"/>
          <a:stretch>
            <a:fillRect/>
          </a:stretch>
        </p:blipFill>
        <p:spPr>
          <a:xfrm>
            <a:off x="2035628" y="3097161"/>
            <a:ext cx="6945085" cy="3049640"/>
          </a:xfrm>
          <a:prstGeom prst="rect">
            <a:avLst/>
          </a:prstGeom>
        </p:spPr>
      </p:pic>
    </p:spTree>
    <p:extLst>
      <p:ext uri="{BB962C8B-B14F-4D97-AF65-F5344CB8AC3E}">
        <p14:creationId xmlns:p14="http://schemas.microsoft.com/office/powerpoint/2010/main" val="22682699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75259-CD67-B381-F0C1-E5C65DC32C2D}"/>
              </a:ext>
            </a:extLst>
          </p:cNvPr>
          <p:cNvSpPr>
            <a:spLocks noGrp="1"/>
          </p:cNvSpPr>
          <p:nvPr>
            <p:ph type="title"/>
          </p:nvPr>
        </p:nvSpPr>
        <p:spPr/>
        <p:txBody>
          <a:bodyPr/>
          <a:lstStyle/>
          <a:p>
            <a:r>
              <a:rPr lang="en-US" b="1" i="1" dirty="0"/>
              <a:t>Key Investment Insights</a:t>
            </a:r>
            <a:endParaRPr lang="en-US" dirty="0"/>
          </a:p>
        </p:txBody>
      </p:sp>
      <p:sp>
        <p:nvSpPr>
          <p:cNvPr id="3" name="Content Placeholder 2">
            <a:extLst>
              <a:ext uri="{FF2B5EF4-FFF2-40B4-BE49-F238E27FC236}">
                <a16:creationId xmlns:a16="http://schemas.microsoft.com/office/drawing/2014/main" id="{E07828FB-3EAE-8BB6-EB8B-612CB66CE34E}"/>
              </a:ext>
            </a:extLst>
          </p:cNvPr>
          <p:cNvSpPr>
            <a:spLocks noGrp="1"/>
          </p:cNvSpPr>
          <p:nvPr>
            <p:ph idx="1"/>
          </p:nvPr>
        </p:nvSpPr>
        <p:spPr/>
        <p:txBody>
          <a:bodyPr>
            <a:normAutofit/>
          </a:bodyPr>
          <a:lstStyle/>
          <a:p>
            <a:pPr marL="0" indent="0">
              <a:buNone/>
            </a:pPr>
            <a:r>
              <a:rPr lang="en-US" sz="2600" b="1" dirty="0">
                <a:latin typeface="Arial" panose="020B0604020202020204" pitchFamily="34" charset="0"/>
                <a:cs typeface="Arial" panose="020B0604020202020204" pitchFamily="34" charset="0"/>
              </a:rPr>
              <a:t>Total Value of Shares Traded (Top 7 Stocks)</a:t>
            </a:r>
          </a:p>
          <a:p>
            <a:r>
              <a:rPr lang="en-US" dirty="0">
                <a:latin typeface="Arial" panose="020B0604020202020204" pitchFamily="34" charset="0"/>
                <a:cs typeface="Arial" panose="020B0604020202020204" pitchFamily="34" charset="0"/>
              </a:rPr>
              <a:t>Following the growth and improved performance of the GSE Composite Index, trading activity on the Ghana Stock Exchange showed strong participation among leading equities. Among the top seven stocks by total value traded, MTNGH (MTN Ghana) emerged as the clear market leader with a total value of </a:t>
            </a:r>
            <a:r>
              <a:rPr lang="en-US" b="1" dirty="0">
                <a:latin typeface="Arial" panose="020B0604020202020204" pitchFamily="34" charset="0"/>
                <a:cs typeface="Arial" panose="020B0604020202020204" pitchFamily="34" charset="0"/>
              </a:rPr>
              <a:t>GH¢16.5 million</a:t>
            </a:r>
            <a:r>
              <a:rPr lang="en-US" dirty="0">
                <a:latin typeface="Arial" panose="020B0604020202020204" pitchFamily="34" charset="0"/>
                <a:cs typeface="Arial" panose="020B0604020202020204" pitchFamily="34" charset="0"/>
              </a:rPr>
              <a:t> worth of shares traded during the period</a:t>
            </a:r>
            <a:endParaRPr lang="en-US" b="1" dirty="0">
              <a:latin typeface="Arial" panose="020B0604020202020204" pitchFamily="34" charset="0"/>
              <a:cs typeface="Arial" panose="020B0604020202020204" pitchFamily="34" charset="0"/>
            </a:endParaRPr>
          </a:p>
          <a:p>
            <a:endParaRPr lang="en-US" dirty="0"/>
          </a:p>
        </p:txBody>
      </p:sp>
    </p:spTree>
    <p:extLst>
      <p:ext uri="{BB962C8B-B14F-4D97-AF65-F5344CB8AC3E}">
        <p14:creationId xmlns:p14="http://schemas.microsoft.com/office/powerpoint/2010/main" val="28629773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E48456-5061-40C2-3A7F-52B7A8DA5C42}"/>
              </a:ext>
            </a:extLst>
          </p:cNvPr>
          <p:cNvSpPr>
            <a:spLocks noGrp="1"/>
          </p:cNvSpPr>
          <p:nvPr>
            <p:ph type="title"/>
          </p:nvPr>
        </p:nvSpPr>
        <p:spPr/>
        <p:txBody>
          <a:bodyPr>
            <a:normAutofit fontScale="90000"/>
          </a:bodyPr>
          <a:lstStyle/>
          <a:p>
            <a:r>
              <a:rPr lang="en-US" b="1" i="1" dirty="0"/>
              <a:t>Technical Observations</a:t>
            </a:r>
            <a:br>
              <a:rPr lang="en-US" dirty="0"/>
            </a:br>
            <a:endParaRPr lang="en-US" dirty="0"/>
          </a:p>
        </p:txBody>
      </p:sp>
      <p:sp>
        <p:nvSpPr>
          <p:cNvPr id="3" name="Content Placeholder 2">
            <a:extLst>
              <a:ext uri="{FF2B5EF4-FFF2-40B4-BE49-F238E27FC236}">
                <a16:creationId xmlns:a16="http://schemas.microsoft.com/office/drawing/2014/main" id="{905BFECF-A1D8-A94B-9CF0-999BB227D567}"/>
              </a:ext>
            </a:extLst>
          </p:cNvPr>
          <p:cNvSpPr>
            <a:spLocks noGrp="1"/>
          </p:cNvSpPr>
          <p:nvPr>
            <p:ph idx="1"/>
          </p:nvPr>
        </p:nvSpPr>
        <p:spPr/>
        <p:txBody>
          <a:bodyPr/>
          <a:lstStyle/>
          <a:p>
            <a:pPr lvl="0"/>
            <a:r>
              <a:rPr lang="en-US" b="1" dirty="0">
                <a:latin typeface="Arial" panose="020B0604020202020204" pitchFamily="34" charset="0"/>
                <a:cs typeface="Arial" panose="020B0604020202020204" pitchFamily="34" charset="0"/>
              </a:rPr>
              <a:t>Support/Resistance:</a:t>
            </a:r>
            <a:r>
              <a:rPr lang="en-US" dirty="0">
                <a:latin typeface="Arial" panose="020B0604020202020204" pitchFamily="34" charset="0"/>
                <a:cs typeface="Arial" panose="020B0604020202020204" pitchFamily="34" charset="0"/>
              </a:rPr>
              <a:t> The GSE Composite Index (GSE-CI) is comfortably holding above the 12,500 mark.</a:t>
            </a:r>
          </a:p>
          <a:p>
            <a:pPr lvl="0"/>
            <a:r>
              <a:rPr lang="en-US" b="1" dirty="0">
                <a:latin typeface="Arial" panose="020B0604020202020204" pitchFamily="34" charset="0"/>
                <a:cs typeface="Arial" panose="020B0604020202020204" pitchFamily="34" charset="0"/>
              </a:rPr>
              <a:t>Breadth:</a:t>
            </a:r>
            <a:r>
              <a:rPr lang="en-US" dirty="0">
                <a:latin typeface="Arial" panose="020B0604020202020204" pitchFamily="34" charset="0"/>
                <a:cs typeface="Arial" panose="020B0604020202020204" pitchFamily="34" charset="0"/>
              </a:rPr>
              <a:t> The ratio of Gainers to Losers is approximately </a:t>
            </a:r>
            <a:r>
              <a:rPr lang="en-US" b="1" dirty="0">
                <a:latin typeface="Arial" panose="020B0604020202020204" pitchFamily="34" charset="0"/>
                <a:cs typeface="Arial" panose="020B0604020202020204" pitchFamily="34" charset="0"/>
              </a:rPr>
              <a:t>5:2</a:t>
            </a:r>
            <a:r>
              <a:rPr lang="en-US" dirty="0">
                <a:latin typeface="Arial" panose="020B0604020202020204" pitchFamily="34" charset="0"/>
                <a:cs typeface="Arial" panose="020B0604020202020204" pitchFamily="34" charset="0"/>
              </a:rPr>
              <a:t>, with the magnitude of gains far exceeding the losses</a:t>
            </a:r>
            <a:r>
              <a:rPr lang="en-US" sz="2600" dirty="0">
                <a:latin typeface="Arial" panose="020B0604020202020204" pitchFamily="34" charset="0"/>
                <a:cs typeface="Arial" panose="020B0604020202020204" pitchFamily="34" charset="0"/>
              </a:rPr>
              <a:t>.</a:t>
            </a:r>
          </a:p>
          <a:p>
            <a:endParaRPr lang="en-US" dirty="0"/>
          </a:p>
        </p:txBody>
      </p:sp>
    </p:spTree>
    <p:extLst>
      <p:ext uri="{BB962C8B-B14F-4D97-AF65-F5344CB8AC3E}">
        <p14:creationId xmlns:p14="http://schemas.microsoft.com/office/powerpoint/2010/main" val="1015670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937DC-DD43-D8D5-FA6D-4D184C6B57E3}"/>
              </a:ext>
            </a:extLst>
          </p:cNvPr>
          <p:cNvSpPr>
            <a:spLocks noGrp="1"/>
          </p:cNvSpPr>
          <p:nvPr>
            <p:ph type="title"/>
          </p:nvPr>
        </p:nvSpPr>
        <p:spPr/>
        <p:txBody>
          <a:bodyPr/>
          <a:lstStyle/>
          <a:p>
            <a:r>
              <a:rPr lang="en-US" i="1" dirty="0"/>
              <a:t>Recommendations</a:t>
            </a:r>
          </a:p>
        </p:txBody>
      </p:sp>
      <p:sp>
        <p:nvSpPr>
          <p:cNvPr id="3" name="Content Placeholder 2">
            <a:extLst>
              <a:ext uri="{FF2B5EF4-FFF2-40B4-BE49-F238E27FC236}">
                <a16:creationId xmlns:a16="http://schemas.microsoft.com/office/drawing/2014/main" id="{2F89B871-A4EB-4193-90FB-865554709280}"/>
              </a:ext>
            </a:extLst>
          </p:cNvPr>
          <p:cNvSpPr>
            <a:spLocks noGrp="1"/>
          </p:cNvSpPr>
          <p:nvPr>
            <p:ph idx="1"/>
          </p:nvPr>
        </p:nvSpPr>
        <p:spPr/>
        <p:txBody>
          <a:bodyPr>
            <a:normAutofit/>
          </a:bodyPr>
          <a:lstStyle/>
          <a:p>
            <a:endParaRPr lang="en-US" dirty="0"/>
          </a:p>
          <a:p>
            <a:r>
              <a:rPr lang="en-US" sz="2600" b="1" dirty="0">
                <a:latin typeface="Arial" panose="020B0604020202020204" pitchFamily="34" charset="0"/>
                <a:cs typeface="Arial" panose="020B0604020202020204" pitchFamily="34" charset="0"/>
              </a:rPr>
              <a:t>Focus on Financial Sector Investments</a:t>
            </a:r>
          </a:p>
          <a:p>
            <a:pPr>
              <a:buFont typeface="Wingdings" panose="05000000000000000000" pitchFamily="2" charset="2"/>
              <a:buChar char="§"/>
            </a:pPr>
            <a:r>
              <a:rPr lang="en-US" dirty="0">
                <a:latin typeface="Arial" panose="020B0604020202020204" pitchFamily="34" charset="0"/>
                <a:cs typeface="Arial" panose="020B0604020202020204" pitchFamily="34" charset="0"/>
              </a:rPr>
              <a:t>Investors looking for capital appreciation might think about expanding their exposure to the banking and insurance industries given the robust performance of the GSE Financial Index (GSE-FI) and the superior performance of major banks (GCB, Access Bank, and EGH).</a:t>
            </a:r>
          </a:p>
          <a:p>
            <a:endParaRPr lang="en-US" dirty="0"/>
          </a:p>
        </p:txBody>
      </p:sp>
    </p:spTree>
    <p:extLst>
      <p:ext uri="{BB962C8B-B14F-4D97-AF65-F5344CB8AC3E}">
        <p14:creationId xmlns:p14="http://schemas.microsoft.com/office/powerpoint/2010/main" val="32422708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14069-EF70-76EA-8526-5032AD7DB397}"/>
              </a:ext>
            </a:extLst>
          </p:cNvPr>
          <p:cNvSpPr>
            <a:spLocks noGrp="1"/>
          </p:cNvSpPr>
          <p:nvPr>
            <p:ph type="title"/>
          </p:nvPr>
        </p:nvSpPr>
        <p:spPr/>
        <p:txBody>
          <a:bodyPr/>
          <a:lstStyle/>
          <a:p>
            <a:r>
              <a:rPr lang="en-US" i="1" dirty="0"/>
              <a:t>Recommendations</a:t>
            </a:r>
            <a:endParaRPr lang="en-US" dirty="0"/>
          </a:p>
        </p:txBody>
      </p:sp>
      <p:sp>
        <p:nvSpPr>
          <p:cNvPr id="3" name="Content Placeholder 2">
            <a:extLst>
              <a:ext uri="{FF2B5EF4-FFF2-40B4-BE49-F238E27FC236}">
                <a16:creationId xmlns:a16="http://schemas.microsoft.com/office/drawing/2014/main" id="{C00821DF-B0DC-2FCA-8125-1EBF174B722E}"/>
              </a:ext>
            </a:extLst>
          </p:cNvPr>
          <p:cNvSpPr>
            <a:spLocks noGrp="1"/>
          </p:cNvSpPr>
          <p:nvPr>
            <p:ph idx="1"/>
          </p:nvPr>
        </p:nvSpPr>
        <p:spPr/>
        <p:txBody>
          <a:bodyPr/>
          <a:lstStyle/>
          <a:p>
            <a:pPr marL="0" indent="0">
              <a:buNone/>
            </a:pPr>
            <a:r>
              <a:rPr lang="en-US" sz="2600" b="1" dirty="0">
                <a:latin typeface="Arial" panose="020B0604020202020204" pitchFamily="34" charset="0"/>
                <a:cs typeface="Arial" panose="020B0604020202020204" pitchFamily="34" charset="0"/>
              </a:rPr>
              <a:t>Agricultural and Consumer Goods Growth Opportunities.</a:t>
            </a:r>
          </a:p>
          <a:p>
            <a:r>
              <a:rPr lang="en-US" dirty="0">
                <a:latin typeface="Arial" panose="020B0604020202020204" pitchFamily="34" charset="0"/>
                <a:cs typeface="Arial" panose="020B0604020202020204" pitchFamily="34" charset="0"/>
              </a:rPr>
              <a:t>Significant gains at Benso Oil Palm Plantation (BOPP) indicate sector-specific growth. For possible short- to medium-term returns, investors may look into a few high-performing consumer products and agricultural stocks</a:t>
            </a:r>
            <a:r>
              <a:rPr lang="en-US" sz="2600" dirty="0">
                <a:latin typeface="Arial" panose="020B0604020202020204" pitchFamily="34" charset="0"/>
                <a:cs typeface="Arial" panose="020B0604020202020204" pitchFamily="34" charset="0"/>
              </a:rPr>
              <a:t>.</a:t>
            </a:r>
          </a:p>
          <a:p>
            <a:endParaRPr lang="en-US" dirty="0"/>
          </a:p>
        </p:txBody>
      </p:sp>
    </p:spTree>
    <p:extLst>
      <p:ext uri="{BB962C8B-B14F-4D97-AF65-F5344CB8AC3E}">
        <p14:creationId xmlns:p14="http://schemas.microsoft.com/office/powerpoint/2010/main" val="37624448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BE80B0-FA44-A85D-DA53-A58CDF919C15}"/>
              </a:ext>
            </a:extLst>
          </p:cNvPr>
          <p:cNvSpPr>
            <a:spLocks noGrp="1"/>
          </p:cNvSpPr>
          <p:nvPr>
            <p:ph idx="1"/>
          </p:nvPr>
        </p:nvSpPr>
        <p:spPr/>
        <p:txBody>
          <a:bodyPr/>
          <a:lstStyle/>
          <a:p>
            <a:pPr algn="ctr"/>
            <a:endParaRPr lang="en-US" dirty="0"/>
          </a:p>
          <a:p>
            <a:pPr algn="ctr"/>
            <a:endParaRPr lang="en-US" dirty="0"/>
          </a:p>
          <a:p>
            <a:pPr algn="ctr"/>
            <a:endParaRPr lang="en-US" dirty="0"/>
          </a:p>
          <a:p>
            <a:pPr marL="0" indent="0" algn="ctr">
              <a:buNone/>
            </a:pPr>
            <a:r>
              <a:rPr lang="en-US" sz="5000" b="1" i="1" dirty="0">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305613626"/>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127</TotalTime>
  <Words>539</Words>
  <Application>Microsoft Office PowerPoint</Application>
  <PresentationFormat>Widescreen</PresentationFormat>
  <Paragraphs>44</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Garamond</vt:lpstr>
      <vt:lpstr>Wingdings</vt:lpstr>
      <vt:lpstr>Organic</vt:lpstr>
      <vt:lpstr>GHANA STOCK EXCHANGE (GSE) DASHBOARD REPORT </vt:lpstr>
      <vt:lpstr>Executive Market Summary </vt:lpstr>
      <vt:lpstr>Key Investment Insights</vt:lpstr>
      <vt:lpstr>PowerPoint Presentation</vt:lpstr>
      <vt:lpstr>Key Investment Insights</vt:lpstr>
      <vt:lpstr>Key Investment Insights</vt:lpstr>
      <vt:lpstr>Key Investment Insights</vt:lpstr>
      <vt:lpstr>Key Investment Insights</vt:lpstr>
      <vt:lpstr>Key Investment Insights</vt:lpstr>
      <vt:lpstr>Key Investment Insights</vt:lpstr>
      <vt:lpstr>Key Investment Insights</vt:lpstr>
      <vt:lpstr>Key Investment Insights</vt:lpstr>
      <vt:lpstr>Technical Observations </vt:lpstr>
      <vt:lpstr>Recommendations</vt:lpstr>
      <vt:lpstr>Recommendations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Alma Golo</dc:creator>
  <cp:lastModifiedBy>Des Ame</cp:lastModifiedBy>
  <cp:revision>4</cp:revision>
  <dcterms:created xsi:type="dcterms:W3CDTF">2026-03-08T12:44:38Z</dcterms:created>
  <dcterms:modified xsi:type="dcterms:W3CDTF">2026-03-19T14:38:05Z</dcterms:modified>
</cp:coreProperties>
</file>